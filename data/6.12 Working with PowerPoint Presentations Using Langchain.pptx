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Schoolbell" charset="1" panose="02000000000000000000"/>
      <p:regular r:id="rId21"/>
    </p:embeddedFont>
    <p:embeddedFont>
      <p:font typeface="Poppins" charset="1" panose="00000500000000000000"/>
      <p:regular r:id="rId22"/>
    </p:embeddedFont>
    <p:embeddedFont>
      <p:font typeface="Proxima Nova Bold" charset="1" panose="0200050603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8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8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8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38113" y="-3405038"/>
            <a:ext cx="12811773" cy="18119508"/>
          </a:xfrm>
          <a:custGeom>
            <a:avLst/>
            <a:gdLst/>
            <a:ahLst/>
            <a:cxnLst/>
            <a:rect r="r" b="b" t="t" l="l"/>
            <a:pathLst>
              <a:path h="18119508" w="12811773">
                <a:moveTo>
                  <a:pt x="0" y="0"/>
                </a:moveTo>
                <a:lnTo>
                  <a:pt x="12811774" y="0"/>
                </a:lnTo>
                <a:lnTo>
                  <a:pt x="12811774" y="18119508"/>
                </a:lnTo>
                <a:lnTo>
                  <a:pt x="0" y="1811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38113" y="-3405038"/>
            <a:ext cx="12811773" cy="18119508"/>
          </a:xfrm>
          <a:custGeom>
            <a:avLst/>
            <a:gdLst/>
            <a:ahLst/>
            <a:cxnLst/>
            <a:rect r="r" b="b" t="t" l="l"/>
            <a:pathLst>
              <a:path h="18119508" w="12811773">
                <a:moveTo>
                  <a:pt x="0" y="0"/>
                </a:moveTo>
                <a:lnTo>
                  <a:pt x="12811774" y="0"/>
                </a:lnTo>
                <a:lnTo>
                  <a:pt x="12811774" y="18119508"/>
                </a:lnTo>
                <a:lnTo>
                  <a:pt x="0" y="1811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97666" y="3579918"/>
            <a:ext cx="7133250" cy="10088454"/>
          </a:xfrm>
          <a:custGeom>
            <a:avLst/>
            <a:gdLst/>
            <a:ahLst/>
            <a:cxnLst/>
            <a:rect r="r" b="b" t="t" l="l"/>
            <a:pathLst>
              <a:path h="10088454" w="7133250">
                <a:moveTo>
                  <a:pt x="0" y="0"/>
                </a:moveTo>
                <a:lnTo>
                  <a:pt x="7133251" y="0"/>
                </a:lnTo>
                <a:lnTo>
                  <a:pt x="7133251" y="10088454"/>
                </a:lnTo>
                <a:lnTo>
                  <a:pt x="0" y="10088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02342" y="3091655"/>
            <a:ext cx="9483316" cy="4103689"/>
          </a:xfrm>
          <a:custGeom>
            <a:avLst/>
            <a:gdLst/>
            <a:ahLst/>
            <a:cxnLst/>
            <a:rect r="r" b="b" t="t" l="l"/>
            <a:pathLst>
              <a:path h="4103689" w="9483316">
                <a:moveTo>
                  <a:pt x="0" y="0"/>
                </a:moveTo>
                <a:lnTo>
                  <a:pt x="9483316" y="0"/>
                </a:lnTo>
                <a:lnTo>
                  <a:pt x="9483316" y="4103690"/>
                </a:lnTo>
                <a:lnTo>
                  <a:pt x="0" y="4103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36906" y="4233785"/>
            <a:ext cx="7214188" cy="239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6"/>
              </a:lnSpc>
            </a:pPr>
            <a:r>
              <a:rPr lang="en-US" sz="5470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Working with PowerPoint Presentations Using Langchain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1683" y="6280683"/>
            <a:ext cx="4006317" cy="4006317"/>
          </a:xfrm>
          <a:custGeom>
            <a:avLst/>
            <a:gdLst/>
            <a:ahLst/>
            <a:cxnLst/>
            <a:rect r="r" b="b" t="t" l="l"/>
            <a:pathLst>
              <a:path h="4006317" w="4006317">
                <a:moveTo>
                  <a:pt x="0" y="0"/>
                </a:moveTo>
                <a:lnTo>
                  <a:pt x="4006317" y="0"/>
                </a:lnTo>
                <a:lnTo>
                  <a:pt x="4006317" y="4006317"/>
                </a:lnTo>
                <a:lnTo>
                  <a:pt x="0" y="4006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26843" y="4000590"/>
            <a:ext cx="5432457" cy="23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0"/>
              </a:lnSpc>
              <a:spcBef>
                <a:spcPct val="0"/>
              </a:spcBef>
            </a:pPr>
            <a:r>
              <a:rPr lang="en-US" sz="4070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PPT slides contain valuable information, but extracting insights from slides can be challenging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64899" y="6862898"/>
            <a:ext cx="4265495" cy="2841886"/>
          </a:xfrm>
          <a:custGeom>
            <a:avLst/>
            <a:gdLst/>
            <a:ahLst/>
            <a:cxnLst/>
            <a:rect r="r" b="b" t="t" l="l"/>
            <a:pathLst>
              <a:path h="2841886" w="4265495">
                <a:moveTo>
                  <a:pt x="0" y="0"/>
                </a:moveTo>
                <a:lnTo>
                  <a:pt x="4265495" y="0"/>
                </a:lnTo>
                <a:lnTo>
                  <a:pt x="4265495" y="2841886"/>
                </a:lnTo>
                <a:lnTo>
                  <a:pt x="0" y="284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27695" y="6336655"/>
            <a:ext cx="4944043" cy="3368129"/>
          </a:xfrm>
          <a:custGeom>
            <a:avLst/>
            <a:gdLst/>
            <a:ahLst/>
            <a:cxnLst/>
            <a:rect r="r" b="b" t="t" l="l"/>
            <a:pathLst>
              <a:path h="3368129" w="4944043">
                <a:moveTo>
                  <a:pt x="0" y="0"/>
                </a:moveTo>
                <a:lnTo>
                  <a:pt x="4944042" y="0"/>
                </a:lnTo>
                <a:lnTo>
                  <a:pt x="4944042" y="3368129"/>
                </a:lnTo>
                <a:lnTo>
                  <a:pt x="0" y="3368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89861" y="1515992"/>
            <a:ext cx="1477921" cy="2028021"/>
          </a:xfrm>
          <a:custGeom>
            <a:avLst/>
            <a:gdLst/>
            <a:ahLst/>
            <a:cxnLst/>
            <a:rect r="r" b="b" t="t" l="l"/>
            <a:pathLst>
              <a:path h="2028021" w="1477921">
                <a:moveTo>
                  <a:pt x="0" y="0"/>
                </a:moveTo>
                <a:lnTo>
                  <a:pt x="1477921" y="0"/>
                </a:lnTo>
                <a:lnTo>
                  <a:pt x="1477921" y="2028021"/>
                </a:lnTo>
                <a:lnTo>
                  <a:pt x="0" y="20280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1683" y="6280683"/>
            <a:ext cx="4006317" cy="4006317"/>
          </a:xfrm>
          <a:custGeom>
            <a:avLst/>
            <a:gdLst/>
            <a:ahLst/>
            <a:cxnLst/>
            <a:rect r="r" b="b" t="t" l="l"/>
            <a:pathLst>
              <a:path h="4006317" w="4006317">
                <a:moveTo>
                  <a:pt x="0" y="0"/>
                </a:moveTo>
                <a:lnTo>
                  <a:pt x="4006317" y="0"/>
                </a:lnTo>
                <a:lnTo>
                  <a:pt x="4006317" y="4006317"/>
                </a:lnTo>
                <a:lnTo>
                  <a:pt x="0" y="4006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4873" y="4280535"/>
            <a:ext cx="4860957" cy="173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We'll automate this process to make every slide easily searchable.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260011" y="2969970"/>
            <a:ext cx="2041087" cy="1982406"/>
          </a:xfrm>
          <a:custGeom>
            <a:avLst/>
            <a:gdLst/>
            <a:ahLst/>
            <a:cxnLst/>
            <a:rect r="r" b="b" t="t" l="l"/>
            <a:pathLst>
              <a:path h="1982406" w="2041087">
                <a:moveTo>
                  <a:pt x="0" y="0"/>
                </a:moveTo>
                <a:lnTo>
                  <a:pt x="2041087" y="0"/>
                </a:lnTo>
                <a:lnTo>
                  <a:pt x="2041087" y="1982406"/>
                </a:lnTo>
                <a:lnTo>
                  <a:pt x="0" y="19824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73187">
            <a:off x="8881314" y="2783898"/>
            <a:ext cx="1349996" cy="4035314"/>
          </a:xfrm>
          <a:custGeom>
            <a:avLst/>
            <a:gdLst/>
            <a:ahLst/>
            <a:cxnLst/>
            <a:rect r="r" b="b" t="t" l="l"/>
            <a:pathLst>
              <a:path h="4035314" w="1349996">
                <a:moveTo>
                  <a:pt x="0" y="4035314"/>
                </a:moveTo>
                <a:lnTo>
                  <a:pt x="1349996" y="4035314"/>
                </a:lnTo>
                <a:lnTo>
                  <a:pt x="1349996" y="0"/>
                </a:lnTo>
                <a:lnTo>
                  <a:pt x="0" y="0"/>
                </a:lnTo>
                <a:lnTo>
                  <a:pt x="0" y="40353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3699" y="5267607"/>
            <a:ext cx="5393711" cy="72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3"/>
              </a:lnSpc>
              <a:spcBef>
                <a:spcPct val="0"/>
              </a:spcBef>
            </a:pPr>
            <a:r>
              <a:rPr lang="en-US" sz="4898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That’s our GOAL!!!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1683" y="6280683"/>
            <a:ext cx="4006317" cy="4006317"/>
          </a:xfrm>
          <a:custGeom>
            <a:avLst/>
            <a:gdLst/>
            <a:ahLst/>
            <a:cxnLst/>
            <a:rect r="r" b="b" t="t" l="l"/>
            <a:pathLst>
              <a:path h="4006317" w="4006317">
                <a:moveTo>
                  <a:pt x="0" y="0"/>
                </a:moveTo>
                <a:lnTo>
                  <a:pt x="4006317" y="0"/>
                </a:lnTo>
                <a:lnTo>
                  <a:pt x="4006317" y="4006317"/>
                </a:lnTo>
                <a:lnTo>
                  <a:pt x="0" y="4006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41441" y="3857904"/>
            <a:ext cx="5673088" cy="2422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7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In this session, you'll master these tasks, simplifying data analysis and querying.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19024"/>
            <a:ext cx="7034915" cy="72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7"/>
              </a:lnSpc>
            </a:pPr>
            <a:r>
              <a:rPr lang="en-US" sz="4394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Document Loading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040970"/>
            <a:ext cx="7034915" cy="72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7"/>
              </a:lnSpc>
            </a:pPr>
            <a:r>
              <a:rPr lang="en-US" sz="4394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Text Splitting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884863"/>
            <a:ext cx="7034915" cy="72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7"/>
              </a:lnSpc>
            </a:pPr>
            <a:r>
              <a:rPr lang="en-US" sz="4394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Vector Stores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462917"/>
            <a:ext cx="7034915" cy="72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7"/>
              </a:lnSpc>
            </a:pPr>
            <a:r>
              <a:rPr lang="en-US" sz="4394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Embedding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998475" y="6188880"/>
            <a:ext cx="2008105" cy="2755548"/>
          </a:xfrm>
          <a:custGeom>
            <a:avLst/>
            <a:gdLst/>
            <a:ahLst/>
            <a:cxnLst/>
            <a:rect r="r" b="b" t="t" l="l"/>
            <a:pathLst>
              <a:path h="2755548" w="2008105">
                <a:moveTo>
                  <a:pt x="0" y="0"/>
                </a:moveTo>
                <a:lnTo>
                  <a:pt x="2008106" y="0"/>
                </a:lnTo>
                <a:lnTo>
                  <a:pt x="2008106" y="2755548"/>
                </a:lnTo>
                <a:lnTo>
                  <a:pt x="0" y="27555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EE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97666" y="3579918"/>
            <a:ext cx="7133250" cy="10088454"/>
          </a:xfrm>
          <a:custGeom>
            <a:avLst/>
            <a:gdLst/>
            <a:ahLst/>
            <a:cxnLst/>
            <a:rect r="r" b="b" t="t" l="l"/>
            <a:pathLst>
              <a:path h="10088454" w="7133250">
                <a:moveTo>
                  <a:pt x="0" y="0"/>
                </a:moveTo>
                <a:lnTo>
                  <a:pt x="7133251" y="0"/>
                </a:lnTo>
                <a:lnTo>
                  <a:pt x="7133251" y="10088454"/>
                </a:lnTo>
                <a:lnTo>
                  <a:pt x="0" y="10088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02342" y="3091655"/>
            <a:ext cx="9483316" cy="4103689"/>
          </a:xfrm>
          <a:custGeom>
            <a:avLst/>
            <a:gdLst/>
            <a:ahLst/>
            <a:cxnLst/>
            <a:rect r="r" b="b" t="t" l="l"/>
            <a:pathLst>
              <a:path h="4103689" w="9483316">
                <a:moveTo>
                  <a:pt x="0" y="0"/>
                </a:moveTo>
                <a:lnTo>
                  <a:pt x="9483316" y="0"/>
                </a:lnTo>
                <a:lnTo>
                  <a:pt x="9483316" y="4103690"/>
                </a:lnTo>
                <a:lnTo>
                  <a:pt x="0" y="4103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06827" y="3921746"/>
            <a:ext cx="7274346" cy="247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4"/>
              </a:lnSpc>
            </a:pPr>
            <a:r>
              <a:rPr lang="en-US" sz="5670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Step 1:</a:t>
            </a:r>
          </a:p>
          <a:p>
            <a:pPr algn="ctr">
              <a:lnSpc>
                <a:spcPts val="6464"/>
              </a:lnSpc>
            </a:pPr>
            <a:r>
              <a:rPr lang="en-US" sz="5670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Loading the PowerPoint Presentation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314575"/>
            <a:ext cx="16230600" cy="5657850"/>
            <a:chOff x="0" y="0"/>
            <a:chExt cx="4274726" cy="1490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490133"/>
            </a:xfrm>
            <a:custGeom>
              <a:avLst/>
              <a:gdLst/>
              <a:ahLst/>
              <a:cxnLst/>
              <a:rect r="r" b="b" t="t" l="l"/>
              <a:pathLst>
                <a:path h="149013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490133"/>
                  </a:lnTo>
                  <a:lnTo>
                    <a:pt x="0" y="1490133"/>
                  </a:lnTo>
                  <a:close/>
                </a:path>
              </a:pathLst>
            </a:custGeom>
            <a:solidFill>
              <a:srgbClr val="3734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1528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15979" y="3505708"/>
            <a:ext cx="14816889" cy="3218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2799" spc="27">
                <a:solidFill>
                  <a:srgbClr val="FDCD56"/>
                </a:solidFill>
                <a:latin typeface="Poppins"/>
                <a:ea typeface="Poppins"/>
                <a:cs typeface="Poppins"/>
                <a:sym typeface="Poppins"/>
              </a:rPr>
              <a:t>from</a:t>
            </a: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langchain_community.document_loaders </a:t>
            </a:r>
            <a:r>
              <a:rPr lang="en-US" sz="2799" spc="27">
                <a:solidFill>
                  <a:srgbClr val="FDCD56"/>
                </a:solidFill>
                <a:latin typeface="Poppins"/>
                <a:ea typeface="Poppins"/>
                <a:cs typeface="Poppins"/>
                <a:sym typeface="Poppins"/>
              </a:rPr>
              <a:t>import</a:t>
            </a: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UnstructuredPowerPointLoader</a:t>
            </a:r>
          </a:p>
          <a:p>
            <a:pPr algn="l">
              <a:lnSpc>
                <a:spcPts val="3667"/>
              </a:lnSpc>
            </a:pPr>
          </a:p>
          <a:p>
            <a:pPr algn="l">
              <a:lnSpc>
                <a:spcPts val="3667"/>
              </a:lnSpc>
            </a:pPr>
            <a:r>
              <a:rPr lang="en-US" sz="2799" spc="27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# Load PowerPoint with data parsed as individual elements</a:t>
            </a:r>
          </a:p>
          <a:p>
            <a:pPr algn="l">
              <a:lnSpc>
                <a:spcPts val="3667"/>
              </a:lnSpc>
            </a:pP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loader = UnstructuredPowerPointLoader(</a:t>
            </a:r>
            <a:r>
              <a:rPr lang="en-US" sz="2799" spc="27">
                <a:solidFill>
                  <a:srgbClr val="C2858C"/>
                </a:solidFill>
                <a:latin typeface="Poppins"/>
                <a:ea typeface="Poppins"/>
                <a:cs typeface="Poppins"/>
                <a:sym typeface="Poppins"/>
              </a:rPr>
              <a:t>"Bitte pitch deck EN.pptx"</a:t>
            </a: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799" spc="27">
                <a:solidFill>
                  <a:srgbClr val="FDCD5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mode=</a:t>
            </a:r>
            <a:r>
              <a:rPr lang="en-US" sz="2799" spc="27">
                <a:solidFill>
                  <a:srgbClr val="C2858C"/>
                </a:solidFill>
                <a:latin typeface="Poppins"/>
                <a:ea typeface="Poppins"/>
                <a:cs typeface="Poppins"/>
                <a:sym typeface="Poppins"/>
              </a:rPr>
              <a:t>"elements"</a:t>
            </a: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algn="l">
              <a:lnSpc>
                <a:spcPts val="3667"/>
              </a:lnSpc>
            </a:pP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docs = loader.load()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5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97666" y="3579918"/>
            <a:ext cx="7133250" cy="10088454"/>
          </a:xfrm>
          <a:custGeom>
            <a:avLst/>
            <a:gdLst/>
            <a:ahLst/>
            <a:cxnLst/>
            <a:rect r="r" b="b" t="t" l="l"/>
            <a:pathLst>
              <a:path h="10088454" w="7133250">
                <a:moveTo>
                  <a:pt x="0" y="0"/>
                </a:moveTo>
                <a:lnTo>
                  <a:pt x="7133251" y="0"/>
                </a:lnTo>
                <a:lnTo>
                  <a:pt x="7133251" y="10088454"/>
                </a:lnTo>
                <a:lnTo>
                  <a:pt x="0" y="10088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02342" y="3091655"/>
            <a:ext cx="9483316" cy="4103689"/>
          </a:xfrm>
          <a:custGeom>
            <a:avLst/>
            <a:gdLst/>
            <a:ahLst/>
            <a:cxnLst/>
            <a:rect r="r" b="b" t="t" l="l"/>
            <a:pathLst>
              <a:path h="4103689" w="9483316">
                <a:moveTo>
                  <a:pt x="0" y="0"/>
                </a:moveTo>
                <a:lnTo>
                  <a:pt x="9483316" y="0"/>
                </a:lnTo>
                <a:lnTo>
                  <a:pt x="9483316" y="4103690"/>
                </a:lnTo>
                <a:lnTo>
                  <a:pt x="0" y="4103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69624" y="4037951"/>
            <a:ext cx="8348752" cy="223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4"/>
              </a:lnSpc>
            </a:pPr>
            <a:r>
              <a:rPr lang="en-US" sz="5170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Step 2:</a:t>
            </a:r>
          </a:p>
          <a:p>
            <a:pPr algn="ctr">
              <a:lnSpc>
                <a:spcPts val="5894"/>
              </a:lnSpc>
            </a:pPr>
            <a:r>
              <a:rPr lang="en-US" sz="5170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Creating a Function to Process PowerPoint Presentations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373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66051"/>
            <a:ext cx="14816889" cy="888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# create a function to prepare PowerPoint presentation</a:t>
            </a:r>
          </a:p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# loading the document, split it into chunks, and store it in a vector database</a:t>
            </a:r>
          </a:p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FDCD56"/>
                </a:solidFill>
                <a:latin typeface="Poppins"/>
                <a:ea typeface="Poppins"/>
                <a:cs typeface="Poppins"/>
                <a:sym typeface="Poppins"/>
              </a:rPr>
              <a:t>def</a:t>
            </a:r>
            <a:r>
              <a:rPr lang="en-US" sz="2799" spc="27">
                <a:solidFill>
                  <a:srgbClr val="C2858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27">
                <a:solidFill>
                  <a:srgbClr val="FFFF33"/>
                </a:solidFill>
                <a:latin typeface="Poppins"/>
                <a:ea typeface="Poppins"/>
                <a:cs typeface="Poppins"/>
                <a:sym typeface="Poppins"/>
              </a:rPr>
              <a:t>prepare_presentation</a:t>
            </a: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(file_path):</a:t>
            </a:r>
          </a:p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  # Load the PowerPoint presentation</a:t>
            </a:r>
          </a:p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loader = UnstructuredPowerPointLoader(file_path, mode=</a:t>
            </a:r>
            <a:r>
              <a:rPr lang="en-US" sz="2799" spc="27">
                <a:solidFill>
                  <a:srgbClr val="C2858C"/>
                </a:solidFill>
                <a:latin typeface="Poppins"/>
                <a:ea typeface="Poppins"/>
                <a:cs typeface="Poppins"/>
                <a:sym typeface="Poppins"/>
              </a:rPr>
              <a:t>"elements"</a:t>
            </a: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docs = loader.load()</a:t>
            </a:r>
          </a:p>
          <a:p>
            <a:pPr algn="l">
              <a:lnSpc>
                <a:spcPts val="3723"/>
              </a:lnSpc>
            </a:pPr>
          </a:p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  # Split the document into chunks</a:t>
            </a:r>
          </a:p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text_splitter = RecursiveCharacterTextSplitter(chunk_size=</a:t>
            </a:r>
            <a:r>
              <a:rPr lang="en-US" sz="2799" spc="27">
                <a:solidFill>
                  <a:srgbClr val="74E7F7"/>
                </a:solidFill>
                <a:latin typeface="Poppins"/>
                <a:ea typeface="Poppins"/>
                <a:cs typeface="Poppins"/>
                <a:sym typeface="Poppins"/>
              </a:rPr>
              <a:t>200</a:t>
            </a: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chunk_overlap=</a:t>
            </a:r>
            <a:r>
              <a:rPr lang="en-US" sz="2799" spc="27">
                <a:solidFill>
                  <a:srgbClr val="74E7F7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chunks = text_splitter.split_documents(docs)</a:t>
            </a:r>
          </a:p>
          <a:p>
            <a:pPr algn="l">
              <a:lnSpc>
                <a:spcPts val="3723"/>
              </a:lnSpc>
            </a:pPr>
          </a:p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  # Generate embeddings for the chunks</a:t>
            </a:r>
          </a:p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embeddings = OpenAIEmbeddings(openai_api_key=api_key,</a:t>
            </a:r>
          </a:p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model=</a:t>
            </a:r>
            <a:r>
              <a:rPr lang="en-US" sz="2799" spc="27">
                <a:solidFill>
                  <a:srgbClr val="C2858C"/>
                </a:solidFill>
                <a:latin typeface="Poppins"/>
                <a:ea typeface="Poppins"/>
                <a:cs typeface="Poppins"/>
                <a:sym typeface="Poppins"/>
              </a:rPr>
              <a:t>"text-embedding-3-large"</a:t>
            </a:r>
            <a:r>
              <a:rPr lang="en-US" sz="2799" spc="27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algn="l">
              <a:lnSpc>
                <a:spcPts val="3723"/>
              </a:lnSpc>
            </a:pPr>
          </a:p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  # Store the chunks in a FAISS vector database</a:t>
            </a:r>
          </a:p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db_faiss = FAISS.from_documents(chunks, embeddings)</a:t>
            </a:r>
          </a:p>
          <a:p>
            <a:pPr algn="l">
              <a:lnSpc>
                <a:spcPts val="3723"/>
              </a:lnSpc>
            </a:pPr>
            <a:r>
              <a:rPr lang="en-US" sz="2799" spc="27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799" spc="27">
                <a:solidFill>
                  <a:srgbClr val="FDCD56"/>
                </a:solidFill>
                <a:latin typeface="Poppins"/>
                <a:ea typeface="Poppins"/>
                <a:cs typeface="Poppins"/>
                <a:sym typeface="Poppins"/>
              </a:rPr>
              <a:t>return</a:t>
            </a:r>
            <a:r>
              <a:rPr lang="en-US" sz="2799" spc="27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db_faiss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1683" y="6280683"/>
            <a:ext cx="4006317" cy="4006317"/>
          </a:xfrm>
          <a:custGeom>
            <a:avLst/>
            <a:gdLst/>
            <a:ahLst/>
            <a:cxnLst/>
            <a:rect r="r" b="b" t="t" l="l"/>
            <a:pathLst>
              <a:path h="4006317" w="4006317">
                <a:moveTo>
                  <a:pt x="0" y="0"/>
                </a:moveTo>
                <a:lnTo>
                  <a:pt x="4006317" y="0"/>
                </a:lnTo>
                <a:lnTo>
                  <a:pt x="4006317" y="4006317"/>
                </a:lnTo>
                <a:lnTo>
                  <a:pt x="0" y="4006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-190829" y="3247188"/>
            <a:ext cx="1700693" cy="433677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91905" y="3077360"/>
            <a:ext cx="14892936" cy="116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4716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chunk_size=200:</a:t>
            </a:r>
            <a:r>
              <a:rPr lang="en-US" b="true" sz="36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PowerPoint slides have short text segments, so a 200-character chunk size ensures meaningful content.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9864" y="1242261"/>
            <a:ext cx="7034915" cy="719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394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Best Practices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1683" y="6280683"/>
            <a:ext cx="4006317" cy="4006317"/>
          </a:xfrm>
          <a:custGeom>
            <a:avLst/>
            <a:gdLst/>
            <a:ahLst/>
            <a:cxnLst/>
            <a:rect r="r" b="b" t="t" l="l"/>
            <a:pathLst>
              <a:path h="4006317" w="4006317">
                <a:moveTo>
                  <a:pt x="0" y="0"/>
                </a:moveTo>
                <a:lnTo>
                  <a:pt x="4006317" y="0"/>
                </a:lnTo>
                <a:lnTo>
                  <a:pt x="4006317" y="4006317"/>
                </a:lnTo>
                <a:lnTo>
                  <a:pt x="0" y="4006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5275227"/>
            <a:ext cx="1700693" cy="433677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91905" y="3077360"/>
            <a:ext cx="14892936" cy="116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4716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chunk_size=200:</a:t>
            </a:r>
            <a:r>
              <a:rPr lang="en-US" b="true" sz="36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PowerPoint slides have short text segments, so a 200-character chunk size ensures meaningful content.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9864" y="1242261"/>
            <a:ext cx="7034915" cy="719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394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Best Practices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1905" y="5105400"/>
            <a:ext cx="14892936" cy="116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4716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chunk_overlap=20:</a:t>
            </a:r>
            <a:r>
              <a:rPr lang="en-US" b="true" sz="36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small overlap maintains context between chunks, essential for presentations with ideas spread across slides.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1683" y="6280683"/>
            <a:ext cx="4006317" cy="4006317"/>
          </a:xfrm>
          <a:custGeom>
            <a:avLst/>
            <a:gdLst/>
            <a:ahLst/>
            <a:cxnLst/>
            <a:rect r="r" b="b" t="t" l="l"/>
            <a:pathLst>
              <a:path h="4006317" w="4006317">
                <a:moveTo>
                  <a:pt x="0" y="0"/>
                </a:moveTo>
                <a:lnTo>
                  <a:pt x="4006317" y="0"/>
                </a:lnTo>
                <a:lnTo>
                  <a:pt x="4006317" y="4006317"/>
                </a:lnTo>
                <a:lnTo>
                  <a:pt x="0" y="4006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-190829" y="3247188"/>
            <a:ext cx="1700693" cy="433677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91905" y="3077360"/>
            <a:ext cx="14892936" cy="116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4716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Adjusting Chunk Size:</a:t>
            </a:r>
            <a:r>
              <a:rPr lang="en-US" b="true" sz="36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For detailed text, a chunk size size of 300 or more may be better.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9864" y="1242261"/>
            <a:ext cx="7034915" cy="719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394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Alternative Options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97666" y="3579918"/>
            <a:ext cx="7133250" cy="10088454"/>
          </a:xfrm>
          <a:custGeom>
            <a:avLst/>
            <a:gdLst/>
            <a:ahLst/>
            <a:cxnLst/>
            <a:rect r="r" b="b" t="t" l="l"/>
            <a:pathLst>
              <a:path h="10088454" w="7133250">
                <a:moveTo>
                  <a:pt x="0" y="0"/>
                </a:moveTo>
                <a:lnTo>
                  <a:pt x="7133251" y="0"/>
                </a:lnTo>
                <a:lnTo>
                  <a:pt x="7133251" y="10088454"/>
                </a:lnTo>
                <a:lnTo>
                  <a:pt x="0" y="10088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02342" y="3091655"/>
            <a:ext cx="9483316" cy="4103689"/>
          </a:xfrm>
          <a:custGeom>
            <a:avLst/>
            <a:gdLst/>
            <a:ahLst/>
            <a:cxnLst/>
            <a:rect r="r" b="b" t="t" l="l"/>
            <a:pathLst>
              <a:path h="4103689" w="9483316">
                <a:moveTo>
                  <a:pt x="0" y="0"/>
                </a:moveTo>
                <a:lnTo>
                  <a:pt x="9483316" y="0"/>
                </a:lnTo>
                <a:lnTo>
                  <a:pt x="9483316" y="4103690"/>
                </a:lnTo>
                <a:lnTo>
                  <a:pt x="0" y="4103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60919" y="4635550"/>
            <a:ext cx="7966162" cy="104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60"/>
              </a:lnSpc>
            </a:pPr>
            <a:r>
              <a:rPr lang="en-US" sz="7070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Conclusion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61905" y="2447637"/>
            <a:ext cx="14364191" cy="269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2"/>
              </a:lnSpc>
            </a:pPr>
            <a:r>
              <a:rPr lang="en-US" sz="4070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In this lecture, we showed how to process PowerPoint presentations with Langchain, turning static slides into searchable data. This method benefits businesses, educators, and others who frequently work with presentations.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397666" y="3579918"/>
            <a:ext cx="7133250" cy="10088454"/>
          </a:xfrm>
          <a:custGeom>
            <a:avLst/>
            <a:gdLst/>
            <a:ahLst/>
            <a:cxnLst/>
            <a:rect r="r" b="b" t="t" l="l"/>
            <a:pathLst>
              <a:path h="10088454" w="7133250">
                <a:moveTo>
                  <a:pt x="0" y="0"/>
                </a:moveTo>
                <a:lnTo>
                  <a:pt x="7133251" y="0"/>
                </a:lnTo>
                <a:lnTo>
                  <a:pt x="7133251" y="10088454"/>
                </a:lnTo>
                <a:lnTo>
                  <a:pt x="0" y="10088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355159"/>
            <a:ext cx="2832810" cy="3191899"/>
          </a:xfrm>
          <a:custGeom>
            <a:avLst/>
            <a:gdLst/>
            <a:ahLst/>
            <a:cxnLst/>
            <a:rect r="r" b="b" t="t" l="l"/>
            <a:pathLst>
              <a:path h="3191899" w="2832810">
                <a:moveTo>
                  <a:pt x="0" y="0"/>
                </a:moveTo>
                <a:lnTo>
                  <a:pt x="2832810" y="0"/>
                </a:lnTo>
                <a:lnTo>
                  <a:pt x="2832810" y="3191899"/>
                </a:lnTo>
                <a:lnTo>
                  <a:pt x="0" y="31918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9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38113" y="-3405038"/>
            <a:ext cx="12811773" cy="18119508"/>
          </a:xfrm>
          <a:custGeom>
            <a:avLst/>
            <a:gdLst/>
            <a:ahLst/>
            <a:cxnLst/>
            <a:rect r="r" b="b" t="t" l="l"/>
            <a:pathLst>
              <a:path h="18119508" w="12811773">
                <a:moveTo>
                  <a:pt x="0" y="0"/>
                </a:moveTo>
                <a:lnTo>
                  <a:pt x="12811774" y="0"/>
                </a:lnTo>
                <a:lnTo>
                  <a:pt x="12811774" y="18119508"/>
                </a:lnTo>
                <a:lnTo>
                  <a:pt x="0" y="1811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DAGPzTELNoM</dc:identifier>
  <dcterms:modified xsi:type="dcterms:W3CDTF">2011-08-01T06:04:30Z</dcterms:modified>
  <cp:revision>1</cp:revision>
  <dc:title>6.12 Working with PowerPoint Presentations Using Langchain</dc:title>
</cp:coreProperties>
</file>